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8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54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388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83787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 Z E O S   H O M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18127"/>
            <a:ext cx="7114397" cy="2821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tr-TR" sz="5400" b="1" dirty="0">
                <a:solidFill>
                  <a:srgbClr val="FFFFFF"/>
                </a:solidFill>
                <a:latin typeface="Georgia" pitchFamily="34" charset="0"/>
              </a:rPr>
              <a:t>Ya eviniz sizi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tr-TR" sz="5400" b="1" dirty="0">
                <a:solidFill>
                  <a:srgbClr val="FFFFFF"/>
                </a:solidFill>
                <a:latin typeface="Georgia" pitchFamily="34" charset="0"/>
              </a:rPr>
              <a:t>sizden iyi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tr-TR" sz="5400" b="1" dirty="0">
                <a:solidFill>
                  <a:srgbClr val="FFFFFF"/>
                </a:solidFill>
                <a:latin typeface="Georgia" pitchFamily="34" charset="0"/>
              </a:rPr>
              <a:t>tanıyorsa?</a:t>
            </a:r>
          </a:p>
        </p:txBody>
      </p:sp>
      <p:sp>
        <p:nvSpPr>
          <p:cNvPr id="5" name="Text 3"/>
          <p:cNvSpPr/>
          <p:nvPr/>
        </p:nvSpPr>
        <p:spPr>
          <a:xfrm>
            <a:off x="2462529" y="4630651"/>
            <a:ext cx="4218942" cy="398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tr-TR" sz="8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OblivionGarage Technology &amp; IT Solutions</a:t>
            </a:r>
            <a:endParaRPr lang="tr-TR" sz="800" spc="300" dirty="0">
              <a:solidFill>
                <a:srgbClr val="EBEB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3A3A48"/>
          </a:solidFill>
          <a:ln/>
        </p:spPr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CB6320A9-FCDD-DE2F-829C-B275BCFC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59590"/>
            <a:ext cx="1943100" cy="19431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575072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a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kıllı ev</a:t>
            </a:r>
            <a:endParaRPr lang="en-US" sz="2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komutlarınızı</a:t>
            </a:r>
            <a:endParaRPr lang="en-US" sz="2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</a:t>
            </a:r>
            <a:r>
              <a:rPr lang="tr-TR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0" y="502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923544"/>
            <a:ext cx="38404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59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Sessiz bir panel</a:t>
            </a:r>
            <a:r>
              <a:rPr lang="tr-TR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400651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ev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panelleri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</a:t>
            </a:r>
            <a:r>
              <a:rPr lang="tr-TR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nlarla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etkileşime girebilir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050" dirty="0">
              <a:solidFill>
                <a:srgbClr val="8E8E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konuşmaz, sizi duymaz, bağlam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kuramaz.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0" y="1946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59" y="2324195"/>
            <a:ext cx="38404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59" y="2488787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İnternet </a:t>
            </a:r>
            <a:r>
              <a:rPr lang="tr-TR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kesintilerinde evinizin kontrolü?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59" y="298518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bağımlı sistemler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 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arıza anında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tamamen çöker. Kendi evinizde kontrolü yitirir­siniz.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46691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5384" y="3867436"/>
            <a:ext cx="38404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5384" y="3950494"/>
            <a:ext cx="395382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Kamera</a:t>
            </a:r>
            <a:r>
              <a:rPr lang="tr-TR" sz="1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görebilir,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</a:t>
            </a:r>
            <a:r>
              <a:rPr lang="tr-TR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söylemez</a:t>
            </a:r>
            <a:r>
              <a:rPr lang="tr-TR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5384" y="4355877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Kapınıza gelen kişilerin kaçından haberdarsınız?</a:t>
            </a:r>
            <a:endParaRPr lang="en-US" sz="11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DEBDAE6-EE83-28BE-710D-21952F9B7D60}"/>
              </a:ext>
            </a:extLst>
          </p:cNvPr>
          <p:cNvSpPr/>
          <p:nvPr/>
        </p:nvSpPr>
        <p:spPr>
          <a:xfrm>
            <a:off x="414337" y="2075974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Peki ya sizi 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tr-TR" sz="2800" b="1" dirty="0">
                <a:solidFill>
                  <a:srgbClr val="FFFFFF"/>
                </a:solidFill>
                <a:latin typeface="Georgia" pitchFamily="34" charset="0"/>
              </a:rPr>
              <a:t>anlaması?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TANITIYORUZ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Obli.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3886200" y="3063240"/>
            <a:ext cx="1371600" cy="36576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46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tr-TR" sz="16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Evinizle Türkçe konuşabilseydiniz, neler değişirdi?</a:t>
            </a:r>
          </a:p>
        </p:txBody>
      </p:sp>
      <p:sp>
        <p:nvSpPr>
          <p:cNvPr id="6" name="Shape 4"/>
          <p:cNvSpPr/>
          <p:nvPr/>
        </p:nvSpPr>
        <p:spPr>
          <a:xfrm>
            <a:off x="2103120" y="4343400"/>
            <a:ext cx="1417320" cy="384048"/>
          </a:xfrm>
          <a:prstGeom prst="rect">
            <a:avLst/>
          </a:prstGeom>
          <a:solidFill>
            <a:srgbClr val="141419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4343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</a:t>
            </a:r>
            <a:r>
              <a:rPr lang="en-US" sz="9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r>
              <a:rPr lang="tr-TR" sz="9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4343400"/>
            <a:ext cx="1417320" cy="384048"/>
          </a:xfrm>
          <a:prstGeom prst="rect">
            <a:avLst/>
          </a:prstGeom>
          <a:solidFill>
            <a:srgbClr val="141419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4343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9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</a:t>
            </a:r>
            <a:r>
              <a:rPr lang="en-US" sz="9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Zekası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4343400"/>
            <a:ext cx="1417320" cy="384048"/>
          </a:xfrm>
          <a:prstGeom prst="rect">
            <a:avLst/>
          </a:prstGeom>
          <a:solidFill>
            <a:srgbClr val="141419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4343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9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Kabiliyeti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İ R   Ü R Ü N   D E Ğ İ L .  </a:t>
            </a:r>
            <a:r>
              <a:rPr lang="tr-TR" sz="10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İ R </a:t>
            </a:r>
            <a:r>
              <a:rPr lang="tr-TR" sz="10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tr-TR" sz="1000" b="1" kern="0" spc="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r>
              <a:rPr lang="en-US" sz="10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49808"/>
            <a:ext cx="768096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379029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Daha Doğal Türkçe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36861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dil algılama motoru sayesinde, kelimeler yanlış anlaşılmadan doğru bağlam seviyesinde yakalanır.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960120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247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375029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Görüş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1860" y="1936861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Kapınıza gelen kişilerden, boş odalara kadar. Evinizin her detayında gözünüz, kulağınız olsun.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960120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1247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1375029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Aile Bireylerini Tanır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983105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</a:t>
            </a:r>
            <a:r>
              <a:rPr lang="en-US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komutlarda</a:t>
            </a: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yanlış aksiyonları önlemek için</a:t>
            </a: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 </a:t>
            </a:r>
            <a:r>
              <a:rPr lang="en-US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</a:t>
            </a: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devreye</a:t>
            </a: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girer</a:t>
            </a: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kişi tespiti yaparak misafir hatalarını ortadan kaldırır.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69514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53512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18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2920" y="3274123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Öğrene</a:t>
            </a:r>
            <a:r>
              <a:rPr lang="tr-TR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bilen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Zeka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81733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tr-TR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zamanla alışkanlıklarınızı öğrenirken sonrasında ki adımlarınız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alışkanlık kazanır. </a:t>
            </a:r>
          </a:p>
        </p:txBody>
      </p:sp>
      <p:sp>
        <p:nvSpPr>
          <p:cNvPr id="24" name="Shape 22"/>
          <p:cNvSpPr/>
          <p:nvPr/>
        </p:nvSpPr>
        <p:spPr>
          <a:xfrm>
            <a:off x="3291840" y="2953512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953512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118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91840" y="3274123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Acil Durum Sistemi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817334"/>
            <a:ext cx="229743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Cihazınıza uzak olsanız dahi kritik anlarda sizin yerinize çağrı gönderebilir,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 mesajı paylaşabilir.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953512"/>
            <a:ext cx="2606040" cy="1828800"/>
          </a:xfrm>
          <a:prstGeom prst="rect">
            <a:avLst/>
          </a:prstGeom>
          <a:solidFill>
            <a:srgbClr val="0C0C10"/>
          </a:solidFill>
          <a:ln w="12700">
            <a:solidFill>
              <a:srgbClr val="1C1C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953512"/>
            <a:ext cx="26060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31181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080760" y="3274885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b="1" dirty="0">
                <a:solidFill>
                  <a:srgbClr val="FFFFFF"/>
                </a:solidFill>
                <a:latin typeface="Georgia" pitchFamily="34" charset="0"/>
              </a:rPr>
              <a:t>Unutmayan Anımsatıcı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731323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içinde anlık değişen programınız,  artık planlarınıza engel değil.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</a:t>
            </a:r>
            <a:r>
              <a:rPr lang="en-US" sz="5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</a:t>
            </a:r>
            <a:endParaRPr lang="en-US" sz="5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</a:t>
            </a:r>
            <a:endParaRPr lang="en-US" sz="5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ile.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206240" y="457200"/>
            <a:ext cx="27432" cy="4206240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530352"/>
            <a:ext cx="225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07:14</a:t>
            </a:r>
            <a:r>
              <a:rPr lang="tr-TR" sz="1000" b="1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SABAH RUTİNİ</a:t>
            </a:r>
            <a:endParaRPr lang="en-US" sz="1000" spc="300" dirty="0"/>
          </a:p>
        </p:txBody>
      </p:sp>
      <p:sp>
        <p:nvSpPr>
          <p:cNvPr id="5" name="Text 3"/>
          <p:cNvSpPr/>
          <p:nvPr/>
        </p:nvSpPr>
        <p:spPr>
          <a:xfrm>
            <a:off x="4480560" y="731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Bulunduğu yerdeki sensörlerin kişi tespiti ile </a:t>
            </a:r>
            <a:r>
              <a:rPr lang="tr-TR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sabah rutininde hava durumunu, geceden önemli notlarını ve ya olay-zaman bilgisini aktarır.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1499616"/>
            <a:ext cx="4389120" cy="13716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591056"/>
            <a:ext cx="4296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12:20</a:t>
            </a:r>
            <a:r>
              <a:rPr lang="tr-TR" sz="1000" b="1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TEMİZLİK ALIŞKANLIĞI</a:t>
            </a:r>
            <a:endParaRPr lang="en-US" sz="1000" spc="300" dirty="0"/>
          </a:p>
        </p:txBody>
      </p:sp>
      <p:sp>
        <p:nvSpPr>
          <p:cNvPr id="8" name="Text 6"/>
          <p:cNvSpPr/>
          <p:nvPr/>
        </p:nvSpPr>
        <p:spPr>
          <a:xfrm>
            <a:off x="4480560" y="191109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Evdeki temizlik robotunun her odayı temizleyebilmesi için, kapılardan gelen anlık durum bilgisiyle kullanıcıyı uyarır. Robotun her odayı temizleyebilmesi sağlanır.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647188"/>
            <a:ext cx="4389120" cy="13716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7066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96722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 k</a:t>
            </a:r>
            <a:r>
              <a:rPr lang="en-US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apı</a:t>
            </a:r>
            <a:r>
              <a:rPr lang="tr-TR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sında</a:t>
            </a: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 gelişmiş kural katmanı, insan tespiti yapıldığı zaman anlık olarak mevcut kameradan fotoğraf alarak ev sakinlerine haber verir. Böylece güvenliği en üst seviyede tutar.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3730752"/>
            <a:ext cx="4389120" cy="13716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8221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981069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"İyi </a:t>
            </a:r>
            <a:r>
              <a:rPr lang="en-US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geceler</a:t>
            </a:r>
            <a:r>
              <a:rPr lang="en-US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lang="en-US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komutuyla uyku senaryosu tetiklenir, </a:t>
            </a:r>
            <a:r>
              <a:rPr lang="tr-TR" sz="1050" dirty="0" err="1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güvenlik moduna geçerek güvenliğinizi sağlar.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8E8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Eviniz</a:t>
            </a:r>
            <a:r>
              <a:rPr lang="en-US" sz="4000" dirty="0">
                <a:solidFill>
                  <a:srgbClr val="8E8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dirty="0" err="1">
                <a:solidFill>
                  <a:srgbClr val="8E8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uyurken</a:t>
            </a:r>
            <a:r>
              <a:rPr lang="en-US" sz="4000" dirty="0">
                <a:solidFill>
                  <a:srgbClr val="8E8E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 uyumaz.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01368"/>
            <a:ext cx="1097280" cy="36576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Kamera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Zekası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24688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kapısı</a:t>
            </a:r>
            <a:r>
              <a:rPr lang="tr-TR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nı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izle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İnsan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tespitinde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verir.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Kamera IP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kaymasın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kurta</a:t>
            </a:r>
            <a:r>
              <a:rPr lang="tr-TR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rır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SMS/Çağrı/Telegram kanallarıyla haber verir.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r-TR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Biyometrik Kontrol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20440" y="3246120"/>
            <a:ext cx="24688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Hassas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komutlar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 tespit edilir.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Yetkisiz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kibarca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reddedilir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4160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tetiklenmesi sonrasında fotoğraf ile kanıtsal doğrulama yapar.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bir veri buluta gitmez.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Acil Durum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Sistemi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246888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saniyelik geri sayım ile tetiklenir.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sonrası güvenilir kişi/kişilere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çağrı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gönderir.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Yanlış alarmda Telegram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üzerinden tetiklenip iptal edildiği bilgisiyle anlık görüntü gönderir.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6405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Tüm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olaylar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içinde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alınır.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Obli nasıl düşünür?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İki katmanlı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ile anlık sonuç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kurallar</a:t>
            </a:r>
            <a:r>
              <a:rPr lang="tr-TR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 ve gelişmiş </a:t>
            </a:r>
            <a:r>
              <a:rPr lang="tr-TR" sz="11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zekası</a:t>
            </a:r>
            <a:r>
              <a:rPr kumimoji="0" lang="tr-T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yla</a:t>
            </a:r>
            <a:r>
              <a: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düşük gecikme süreleri.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768096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Deterministik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kumimoji="0" lang="tr-TR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Skill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Mod</a:t>
            </a:r>
            <a:r>
              <a:rPr kumimoji="0" lang="tr-TR" sz="13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 adımda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bekleme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yok. Kritik komutlar anında çalışır.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611880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7568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Cihaz listesini çekme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414016"/>
            <a:ext cx="3611880" cy="310896"/>
          </a:xfrm>
          <a:prstGeom prst="rect">
            <a:avLst/>
          </a:prstGeom>
          <a:solidFill>
            <a:srgbClr val="05050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43230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Oda / </a:t>
            </a:r>
            <a:r>
              <a:rPr lang="tr-TR" sz="105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ihaz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açma-kapatma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770632"/>
            <a:ext cx="3611880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8892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Kamera sayfasına geçiş &amp; büyütme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3611880" cy="310896"/>
          </a:xfrm>
          <a:prstGeom prst="rect">
            <a:avLst/>
          </a:prstGeom>
          <a:solidFill>
            <a:srgbClr val="05050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14553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Not alma + alarm kurma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3611880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0215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Acil durum başlatma / iptal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3611880" cy="310896"/>
          </a:xfrm>
          <a:prstGeom prst="rect">
            <a:avLst/>
          </a:prstGeom>
          <a:solidFill>
            <a:srgbClr val="05050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85876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Uyku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ve diğer kayıtlı mod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aktivasyon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ları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4197096"/>
            <a:ext cx="3611880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21538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Yüz profili tanıtma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4553712"/>
            <a:ext cx="3611880" cy="310896"/>
          </a:xfrm>
          <a:prstGeom prst="rect">
            <a:avLst/>
          </a:prstGeom>
          <a:solidFill>
            <a:srgbClr val="05050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57200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BEB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 Agent geri bildirim komutu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1325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Öğretilmiş Zeka Modu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3440" y="1691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Skill kalıbına girmeyen durumlarda Obli bağlamı anlar ve konuşur.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2057400"/>
            <a:ext cx="4206240" cy="265176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057400"/>
            <a:ext cx="4206240" cy="34747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0" i="1" u="none" strike="noStrike" kern="1200" cap="none" spc="0" normalizeH="0" baseline="0" noProof="0" dirty="0">
                <a:ln>
                  <a:noFill/>
                </a:ln>
                <a:solidFill>
                  <a:srgbClr val="3A3A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ÖRNEK KONUŞMA METNİ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73168" y="24871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Akşam alışverişe gideceğim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not al.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73168" y="2834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Kaydettim. Alarm kurayım mı?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73168" y="3182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73168" y="35295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 zamana?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73168" y="387705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Akşam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8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uygun olur.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73168" y="42245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Tamam, 20:00 alarmı kuruldu.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Hafıza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sayfasında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görünecek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63440" y="46451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3A3A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 ayrıca: son konuşma bağlamı · cihaz listesi · hafıza notları · kullanıcı niyet analizi</a:t>
            </a:r>
            <a:r>
              <a:rPr kumimoji="0" lang="tr-TR" sz="800" b="0" i="1" u="none" strike="noStrike" kern="1200" cap="none" spc="0" normalizeH="0" baseline="0" noProof="0" dirty="0">
                <a:ln>
                  <a:noFill/>
                </a:ln>
                <a:solidFill>
                  <a:srgbClr val="3A3A4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yapabilir.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</a:t>
            </a:r>
            <a:r>
              <a:rPr lang="en-US" sz="3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</a:t>
            </a:r>
            <a:r>
              <a:rPr lang="tr-TR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pazarı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hızla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</a:t>
            </a:r>
            <a:r>
              <a:rPr lang="tr-TR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rken</a:t>
            </a:r>
            <a:r>
              <a:rPr lang="tr-TR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zeka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çözümleri</a:t>
            </a:r>
            <a:r>
              <a:rPr lang="en-US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</a:t>
            </a:r>
            <a:r>
              <a:rPr lang="tr-TR" sz="14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çok nadir.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72768"/>
            <a:ext cx="23774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7018"/>
            <a:ext cx="2606040" cy="80021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$127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Yılı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üresel</a:t>
            </a:r>
            <a:r>
              <a:rPr lang="tr-TR" sz="1050" dirty="0"/>
              <a:t>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kıllı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572768"/>
            <a:ext cx="23774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6420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74720" y="2761488"/>
            <a:ext cx="25603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</a:t>
            </a:r>
            <a:r>
              <a:rPr lang="tr-TR" sz="1050" dirty="0"/>
              <a:t> 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2025–2030)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2377440" cy="32004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767018"/>
            <a:ext cx="2606040" cy="800219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$537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76148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Yılı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ahmini</a:t>
            </a:r>
            <a:r>
              <a:rPr lang="tr-TR" sz="1050" dirty="0"/>
              <a:t>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 </a:t>
            </a: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05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üyüklüğü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768096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221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Kullanıcıların 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%57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 bulut tabanlı sistemlerin veri gizliliğinden endişeli</a:t>
            </a:r>
            <a:r>
              <a:rPr lang="en-US" sz="8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(HomeAutomationSmartHome, 2026)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Akıllı ev sahiplerinin 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%46</a:t>
            </a:r>
            <a:r>
              <a:rPr lang="en-US" sz="11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'sı Wi-Fi kesintisinde sistemin tamamen durduğunu deneyimledi. </a:t>
            </a:r>
            <a:r>
              <a:rPr lang="en-US" sz="8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(HomeAutomationSmartHome, 2026)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Obli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düşün</a:t>
            </a:r>
            <a:r>
              <a:rPr kumimoji="0" lang="tr-TR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cesini</a:t>
            </a:r>
            <a:r>
              <a:rPr kumimoji="0" lang="tr-TR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saklamaz.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1018032"/>
            <a:ext cx="1097280" cy="36576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0302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Hafızası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sayfası</a:t>
            </a:r>
            <a:r>
              <a:rPr lang="tr-TR" sz="13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Obli'nin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karar sürecini olduğu gibi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gösterir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kumimoji="0" lang="tr-TR" sz="13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Neden-sonuç ilişkisi açıkça belirtilir.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453470" y="1852053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6" name="Shape 4"/>
          <p:cNvSpPr/>
          <p:nvPr/>
        </p:nvSpPr>
        <p:spPr>
          <a:xfrm>
            <a:off x="453470" y="1816449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3470" y="1979363"/>
            <a:ext cx="26297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Kişisel Notlar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430703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"Akşam 8'de maçım var."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ya da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Eczaneden ilaçları alacağım.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gibi etkileşimler not olarak kaydedilir.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Alarm rozetli, hafıza kartında, zamanı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gelince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sesli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şekilde hatırlatılır.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58994" y="1850909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816448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216712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2511" y="1984629"/>
            <a:ext cx="26372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Güvenlik Olayları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9703" y="24185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Gelen kişi tespiti, daire kapı açılış zamanı, gece güvenlik notları gibi kritik öneme sahip veriler zaman damgasıyla kaydedilir.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9904" y="1850909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4" y="1816162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216712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7151" y="1984629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Otomasyon Düşüncesi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2332101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neden o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cihaza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aksiyon aldı?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gibi soruların cevapları, nedenleriyle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birlikte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kaydedilir ve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kullanıcıya gösterilir.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470148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33344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758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216" y="3595503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Oda Doluluk Analizi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960" y="4023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Hangi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oda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boş</a:t>
            </a:r>
            <a:r>
              <a:rPr lang="tr-TR" sz="9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hangi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oda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dolu</a:t>
            </a:r>
            <a:r>
              <a:rPr lang="tr-TR" sz="9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durum ayrımlarını anlık s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ensörden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gelen veriye dayalı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çıkarım yaparak önerir.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71687" y="3468091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6" name="Shape 24"/>
          <p:cNvSpPr/>
          <p:nvPr/>
        </p:nvSpPr>
        <p:spPr>
          <a:xfrm>
            <a:off x="3273552" y="3434259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36758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01568" y="3595503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Geri Bildirim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01568" y="4023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Obli’nin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aldığı karar eğer hatalıysa, Otomasyon </a:t>
            </a:r>
            <a:r>
              <a:rPr kumimoji="0" lang="tr-T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Müdahele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sayfasından davranışının yanlış olduğunu belirterek eğitilebilir. Sonrasında bu </a:t>
            </a:r>
            <a:r>
              <a:rPr kumimoji="0" lang="tr-T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geridönüş</a:t>
            </a:r>
            <a:r>
              <a:rPr lang="tr-TR" sz="9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baz alarak çalışmaya devam eder.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5547CD25-4689-9F90-4CB7-F9C51482FEE4}"/>
              </a:ext>
            </a:extLst>
          </p:cNvPr>
          <p:cNvSpPr/>
          <p:nvPr/>
        </p:nvSpPr>
        <p:spPr>
          <a:xfrm>
            <a:off x="6089904" y="3470148"/>
            <a:ext cx="2633472" cy="1417320"/>
          </a:xfrm>
          <a:prstGeom prst="rect">
            <a:avLst/>
          </a:prstGeom>
          <a:solidFill>
            <a:srgbClr val="0C0C10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58177787-DE21-C089-9E57-A701FE9AF198}"/>
              </a:ext>
            </a:extLst>
          </p:cNvPr>
          <p:cNvSpPr/>
          <p:nvPr/>
        </p:nvSpPr>
        <p:spPr>
          <a:xfrm>
            <a:off x="6087151" y="3430603"/>
            <a:ext cx="2633472" cy="34747"/>
          </a:xfrm>
          <a:prstGeom prst="rect">
            <a:avLst/>
          </a:prstGeom>
          <a:solidFill>
            <a:srgbClr val="E8C97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7E19817F-712E-C6D8-2CF1-9E4953B5663A}"/>
              </a:ext>
            </a:extLst>
          </p:cNvPr>
          <p:cNvSpPr/>
          <p:nvPr/>
        </p:nvSpPr>
        <p:spPr>
          <a:xfrm>
            <a:off x="5888736" y="3954785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C25CFFA6-F399-BF6E-263E-7FC4288F3818}"/>
              </a:ext>
            </a:extLst>
          </p:cNvPr>
          <p:cNvSpPr/>
          <p:nvPr/>
        </p:nvSpPr>
        <p:spPr>
          <a:xfrm>
            <a:off x="6086174" y="3601335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Veri Gizliliği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8BDE39E5-5917-AE19-7B02-1F766DD43611}"/>
              </a:ext>
            </a:extLst>
          </p:cNvPr>
          <p:cNvSpPr/>
          <p:nvPr/>
        </p:nvSpPr>
        <p:spPr>
          <a:xfrm>
            <a:off x="6214190" y="4024771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Uygulama içerisindeki hiçbir kullanıcı verisi, gerek şirket politikası, gerekse kullanıcı memnuniyeti adı altında kopyalanmaz, saklanmaz, yada erişilemez.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46765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3200" b="1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» ANALİZ » AKSİYON</a:t>
            </a:r>
            <a:endParaRPr kumimoji="0" lang="en-US" sz="32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318127"/>
            <a:ext cx="7114397" cy="2821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34" charset="0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462529" y="4630651"/>
            <a:ext cx="4218942" cy="398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800" b="0" i="0" u="none" strike="noStrike" kern="1200" cap="none" spc="300" normalizeH="0" baseline="0" noProof="0" dirty="0">
              <a:ln>
                <a:noFill/>
              </a:ln>
              <a:solidFill>
                <a:srgbClr val="EBEBF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3A3A48"/>
          </a:solidFill>
          <a:ln/>
        </p:spPr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805F659-754B-C00A-9B0A-465C250AF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437" y="1592375"/>
            <a:ext cx="5825126" cy="3237550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2D49386A-9925-EFAE-3FE2-548B3594D958}"/>
              </a:ext>
            </a:extLst>
          </p:cNvPr>
          <p:cNvSpPr txBox="1"/>
          <p:nvPr/>
        </p:nvSpPr>
        <p:spPr>
          <a:xfrm>
            <a:off x="822960" y="881183"/>
            <a:ext cx="7290801" cy="523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Olay → Analiz →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Aksiyon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zinciri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neden-sonuç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ilişkisini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net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şekilde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sunar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05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oğru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yanlış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eşiğiyle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zamanla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alışkanlık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kazanır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daha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yakından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tanır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E8E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75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RazeOs Home?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7863840" cy="18288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60520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7512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RazeOs Home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8229600" cy="475488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996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Türkçe sesli asistan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4996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/ İngilizce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766560" y="14996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8229600" cy="475488"/>
          </a:xfrm>
          <a:prstGeom prst="rect">
            <a:avLst/>
          </a:prstGeom>
          <a:solidFill>
            <a:srgbClr val="05050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025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kesilse çalışır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20025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Çöker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66560" y="20025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Yerel öncelik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468880"/>
            <a:ext cx="8229600" cy="475488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054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+ sensör korelasyonu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50545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İzole çalışır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2505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Birlikte yorumlar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8229600" cy="475488"/>
          </a:xfrm>
          <a:prstGeom prst="rect">
            <a:avLst/>
          </a:prstGeom>
          <a:solidFill>
            <a:srgbClr val="050507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0" name="Text 18"/>
          <p:cNvSpPr/>
          <p:nvPr/>
        </p:nvSpPr>
        <p:spPr>
          <a:xfrm>
            <a:off x="731520" y="300837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Fotoğraflı güvenlik bildirimi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30083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Yok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300837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Telegram + anlık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8229600" cy="475488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1129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 doğrulama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51960" y="35112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Yok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66560" y="35112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Katmanlı güvenlik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8229600" cy="475488"/>
          </a:xfrm>
          <a:prstGeom prst="rect">
            <a:avLst/>
          </a:prstGeom>
          <a:solidFill>
            <a:srgbClr val="050507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28" name="Text 26"/>
          <p:cNvSpPr/>
          <p:nvPr/>
        </p:nvSpPr>
        <p:spPr>
          <a:xfrm>
            <a:off x="731520" y="401421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durumda telefon çağrısı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51960" y="40142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Yok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66560" y="40142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Otomatik çağrı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8229600" cy="475488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5171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Öğrenen otomasyon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51960" y="45171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66560" y="45171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Geri bildirimle büyür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Tasarlandı.</a:t>
            </a:r>
            <a:endParaRPr lang="en-US" sz="6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edildi.</a:t>
            </a:r>
            <a:endParaRPr lang="en-US" sz="6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tr-TR" sz="6400" b="1" dirty="0">
                <a:solidFill>
                  <a:srgbClr val="FFFFFF"/>
                </a:solidFill>
                <a:latin typeface="Georgia" pitchFamily="34" charset="0"/>
              </a:rPr>
              <a:t>Öğreniyor.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77240" y="3654743"/>
            <a:ext cx="1280160" cy="36576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98716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35'ten fazla birim test </a:t>
            </a:r>
            <a:r>
              <a:rPr lang="en-US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kategorisi</a:t>
            </a:r>
            <a:r>
              <a:rPr lang="tr-TR" sz="1000" dirty="0" err="1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yle</a:t>
            </a: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gerçek kullanıcı sorunlarına odaklı bir altyapı.</a:t>
            </a:r>
            <a:endParaRPr lang="en-US" sz="1000" dirty="0"/>
          </a:p>
          <a:p>
            <a:pPr marL="0" indent="0" algn="l">
              <a:lnSpc>
                <a:spcPct val="160000"/>
              </a:lnSpc>
              <a:buNone/>
            </a:pPr>
            <a:r>
              <a:rPr lang="tr-TR" sz="1000" dirty="0">
                <a:solidFill>
                  <a:srgbClr val="8E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verilerle tüm ekosistemin en kişisel hali.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RazeOs Home.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tr-TR" sz="14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ev düşünün…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tr-TR" sz="1400" dirty="0">
                <a:solidFill>
                  <a:srgbClr val="EB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 tanıyabiliyor.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0" y="3218688"/>
            <a:ext cx="1463040" cy="36576"/>
          </a:xfrm>
          <a:prstGeom prst="rect">
            <a:avLst/>
          </a:prstGeom>
          <a:solidFill>
            <a:srgbClr val="E8C97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3474720"/>
            <a:ext cx="2743200" cy="594360"/>
          </a:xfrm>
          <a:prstGeom prst="rect">
            <a:avLst/>
          </a:prstGeom>
          <a:solidFill>
            <a:srgbClr val="E8C97A"/>
          </a:solidFill>
          <a:ln w="12700">
            <a:solidFill>
              <a:srgbClr val="E8C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3474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400" b="1" dirty="0">
                <a:solidFill>
                  <a:srgbClr val="0505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0850 241 08 79</a:t>
            </a:r>
          </a:p>
        </p:txBody>
      </p:sp>
      <p:sp>
        <p:nvSpPr>
          <p:cNvPr id="8" name="Text 6"/>
          <p:cNvSpPr/>
          <p:nvPr/>
        </p:nvSpPr>
        <p:spPr>
          <a:xfrm>
            <a:off x="1073727" y="4668012"/>
            <a:ext cx="6996545" cy="240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b="1" kern="0" spc="3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razeos.cc</a:t>
            </a:r>
            <a:endParaRPr lang="en-US" sz="1200" spc="300" dirty="0"/>
          </a:p>
        </p:txBody>
      </p:sp>
      <p:sp>
        <p:nvSpPr>
          <p:cNvPr id="9" name="Shape 7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E8C97A"/>
          </a:solidFill>
          <a:ln/>
        </p:spPr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DD981E7B-EF05-924B-8D78-FC77B7D0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00" y="964692"/>
            <a:ext cx="740409" cy="74040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2584B661-FADB-F8CA-9496-15D5D90F233D}"/>
              </a:ext>
            </a:extLst>
          </p:cNvPr>
          <p:cNvSpPr txBox="1"/>
          <p:nvPr/>
        </p:nvSpPr>
        <p:spPr>
          <a:xfrm>
            <a:off x="6915150" y="43371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tr-TR" b="1" i="0" dirty="0">
                <a:solidFill>
                  <a:srgbClr val="737373"/>
                </a:solidFill>
                <a:effectLst/>
              </a:rPr>
              <a:t>One Vision</a:t>
            </a:r>
            <a:endParaRPr lang="tr-TR" dirty="0">
              <a:effectLst/>
            </a:endParaRPr>
          </a:p>
          <a:p>
            <a:pPr rtl="0"/>
            <a:r>
              <a:rPr lang="tr-TR" b="1" i="0" dirty="0">
                <a:solidFill>
                  <a:schemeClr val="accent2"/>
                </a:solidFill>
                <a:effectLst/>
              </a:rPr>
              <a:t>Infinite Innovation</a:t>
            </a:r>
            <a:endParaRPr lang="tr-TR" dirty="0">
              <a:solidFill>
                <a:schemeClr val="accent2"/>
              </a:solidFill>
              <a:effectLst/>
            </a:endParaRPr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BF77F371-B655-A732-1AF1-319803D63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" y="4493259"/>
            <a:ext cx="1116330" cy="415523"/>
          </a:xfrm>
          <a:prstGeom prst="rect">
            <a:avLst/>
          </a:prstGeom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26D2B3D1-8A04-3257-410D-68D9DDE7A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861" y="4543518"/>
            <a:ext cx="1281919" cy="3652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1051</Words>
  <Application>Microsoft Office PowerPoint</Application>
  <PresentationFormat>Ekran Gösterisi (16:9)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Razee ʷᵃˢᵈ</cp:lastModifiedBy>
  <cp:revision>8</cp:revision>
  <dcterms:created xsi:type="dcterms:W3CDTF">2026-05-24T15:01:19Z</dcterms:created>
  <dcterms:modified xsi:type="dcterms:W3CDTF">2026-08-15T10:06:52Z</dcterms:modified>
</cp:coreProperties>
</file>